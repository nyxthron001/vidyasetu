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59257-0CBB-7A42-BFD5-972B805E8F5D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FFADB-9D9D-D842-9330-EDB32EDEF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0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7985455" y="2377440"/>
            <a:ext cx="6583680" cy="65328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3A2768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3A2768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-640080" y="5303520"/>
            <a:ext cx="2377440" cy="2377440"/>
          </a:xfrm>
          <a:prstGeom prst="ellipse">
            <a:avLst/>
          </a:prstGeom>
          <a:solidFill>
            <a:srgbClr val="3D2A70">
              <a:alpha val="5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44288" y="384048"/>
            <a:ext cx="2103120" cy="2103120"/>
          </a:xfrm>
          <a:prstGeom prst="ellipse">
            <a:avLst/>
          </a:prstGeom>
          <a:ln w="15875">
            <a:solidFill>
              <a:srgbClr val="C9A227">
                <a:alpha val="65000"/>
              </a:srgbClr>
            </a:solidFill>
            <a:prstDash val="solid"/>
          </a:ln>
        </p:spPr>
      </p:sp>
      <p:pic>
        <p:nvPicPr>
          <p:cNvPr id="7" name="Image 1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188" y="732418"/>
            <a:ext cx="1417320" cy="14063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27889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I D Y A S E T U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0" y="340156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E1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Inclusion for Rural Higher Education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0" y="391363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anywhere.    Learn offline.    Learn without barriers.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255368" y="4526280"/>
            <a:ext cx="7680960" cy="512064"/>
          </a:xfrm>
          <a:prstGeom prst="roundRect">
            <a:avLst>
              <a:gd name="adj" fmla="val 50000"/>
            </a:avLst>
          </a:prstGeom>
          <a:solidFill>
            <a:srgbClr val="3A2768">
              <a:alpha val="70000"/>
            </a:srgbClr>
          </a:solidFill>
          <a:ln w="9525">
            <a:solidFill>
              <a:srgbClr val="C9A227">
                <a:alpha val="5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55368" y="452628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Zenith</a:t>
            </a:r>
            <a:r>
              <a:rPr lang="en-US" sz="1150" dirty="0">
                <a:solidFill>
                  <a:srgbClr val="E1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Nishtha Tiwari  ·  Namami Trivedi  ·  Shrashti Kashyap  ·  Abhiraj Pratap Singh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Access Gap in Rural India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rural learners still face barriers to accessing quality educational knowledge — not only because of connectivity, but also limited devices, school infrastructure, and digital learning opportunities.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993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&amp; EVIDENCE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431536" cy="1202436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459736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53.9%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22960" y="291693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with an internet facility (2023–24)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20954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46.2% among government schools nationally.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81344" y="2331720"/>
            <a:ext cx="5431536" cy="1202436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55664" y="2459736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43.3%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455664" y="291693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among schools in Madhya Pradesh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55664" y="320954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to only 32.3% among government schools in MP.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735324"/>
            <a:ext cx="5431536" cy="1202436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386334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B3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82.2% / 31.4%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822960" y="432054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children (14–16) who can use a smartphone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61314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31.4% of those who can use one own it personally.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3735324"/>
            <a:ext cx="5431536" cy="1202436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55664" y="386334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6455664" y="432054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smartphone for educational purposes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55664" y="461314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widespread smartphone familiarity among teens.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523036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D6CFEA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5230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r>
              <a:rPr lang="en-US" sz="110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access to knowledge still depends on where they live — the challenge is no longer whether knowledge is online, but whether every learner can reliably reach and use it.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ASER 2024; UDISE+ 2023–24, Ministry of Education, Government of India.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AREN'T ENOUGH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platforms help — but rural learners need more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platforms such as SWAYAM and PM e-Vidya support access, equity, and quality in education. However, rural learners still need a solution that makes learning practical in low-connectivity environments — through offline access, local support, multilingual content, and accessibility features.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— A PLATFORM THAT CAN: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75234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2688" y="25146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without continuous internet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2752344"/>
            <a:ext cx="256032" cy="256032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64808" y="25146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audio, captions, and text alternatives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483864"/>
            <a:ext cx="256032" cy="256032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2688" y="32461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data consumption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80760" y="348386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608076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64808" y="32461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progress offline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215384"/>
            <a:ext cx="256032" cy="256032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2688" y="39776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local languages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80760" y="4215384"/>
            <a:ext cx="256032" cy="256032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3" name="Text 20"/>
          <p:cNvSpPr/>
          <p:nvPr/>
        </p:nvSpPr>
        <p:spPr>
          <a:xfrm>
            <a:off x="608076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64808" y="39776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with mentors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94690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946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32688" y="47091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low-end devices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080760" y="4946904"/>
            <a:ext cx="256032" cy="256032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9" name="Text 26"/>
          <p:cNvSpPr/>
          <p:nvPr/>
        </p:nvSpPr>
        <p:spPr>
          <a:xfrm>
            <a:off x="6080760" y="4946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64808" y="47091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colleges and community learning hubs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D6CFEA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and PM e-Vidya extend the national push for free, multi-channel education — VidyaSetu adapts that vision to rural, low-connectivity classrooms.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OFFERS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offline-first ecosystem for rural higher education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combine to bring accessible, low-data, human-supported learning to every rural student.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931670" y="2628900"/>
            <a:ext cx="8298180" cy="0"/>
          </a:xfrm>
          <a:prstGeom prst="line">
            <a:avLst/>
          </a:prstGeom>
          <a:noFill/>
          <a:ln w="38100">
            <a:solidFill>
              <a:srgbClr val="D6C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51610" y="2148840"/>
            <a:ext cx="960120" cy="96012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8" name="Text 5"/>
          <p:cNvSpPr/>
          <p:nvPr/>
        </p:nvSpPr>
        <p:spPr>
          <a:xfrm>
            <a:off x="145161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3222" y="33832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Access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890522" y="3995928"/>
            <a:ext cx="82296" cy="82296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1" name="Text 8"/>
          <p:cNvSpPr/>
          <p:nvPr/>
        </p:nvSpPr>
        <p:spPr>
          <a:xfrm>
            <a:off x="633222" y="4160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course access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890522" y="4471416"/>
            <a:ext cx="82296" cy="82296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3" name="Text 10"/>
          <p:cNvSpPr/>
          <p:nvPr/>
        </p:nvSpPr>
        <p:spPr>
          <a:xfrm>
            <a:off x="633222" y="46360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Low-data learning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890522" y="4946904"/>
            <a:ext cx="82296" cy="82296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5" name="Text 12"/>
          <p:cNvSpPr/>
          <p:nvPr/>
        </p:nvSpPr>
        <p:spPr>
          <a:xfrm>
            <a:off x="633222" y="511149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17670" y="2148840"/>
            <a:ext cx="960120" cy="9601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421767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399282" y="33832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&amp; Continuity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4656582" y="399592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3399282" y="4160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features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56582" y="447141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9"/>
          <p:cNvSpPr/>
          <p:nvPr/>
        </p:nvSpPr>
        <p:spPr>
          <a:xfrm>
            <a:off x="3399282" y="46360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quizzes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56582" y="49469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3399282" y="511149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sync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983730" y="2148840"/>
            <a:ext cx="960120" cy="960120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6" name="Text 23"/>
          <p:cNvSpPr/>
          <p:nvPr/>
        </p:nvSpPr>
        <p:spPr>
          <a:xfrm>
            <a:off x="698373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165342" y="33832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&amp; Community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7422642" y="3995928"/>
            <a:ext cx="82296" cy="822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9" name="Text 26"/>
          <p:cNvSpPr/>
          <p:nvPr/>
        </p:nvSpPr>
        <p:spPr>
          <a:xfrm>
            <a:off x="6165342" y="4160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support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422642" y="4471416"/>
            <a:ext cx="82296" cy="822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31" name="Text 28"/>
          <p:cNvSpPr/>
          <p:nvPr/>
        </p:nvSpPr>
        <p:spPr>
          <a:xfrm>
            <a:off x="6165342" y="46360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learning hubs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422642" y="4946904"/>
            <a:ext cx="82296" cy="82296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33" name="Text 30"/>
          <p:cNvSpPr/>
          <p:nvPr/>
        </p:nvSpPr>
        <p:spPr>
          <a:xfrm>
            <a:off x="6165342" y="511149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749790" y="2148840"/>
            <a:ext cx="960120" cy="960120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35" name="Text 32"/>
          <p:cNvSpPr/>
          <p:nvPr/>
        </p:nvSpPr>
        <p:spPr>
          <a:xfrm>
            <a:off x="974979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8931402" y="33832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&amp; Opportunity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10188702" y="3995928"/>
            <a:ext cx="82296" cy="82296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38" name="Text 35"/>
          <p:cNvSpPr/>
          <p:nvPr/>
        </p:nvSpPr>
        <p:spPr>
          <a:xfrm>
            <a:off x="8931402" y="4160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10188702" y="4471416"/>
            <a:ext cx="82296" cy="82296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40" name="Text 37"/>
          <p:cNvSpPr/>
          <p:nvPr/>
        </p:nvSpPr>
        <p:spPr>
          <a:xfrm>
            <a:off x="8931402" y="463600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discovery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0188702" y="4946904"/>
            <a:ext cx="82296" cy="82296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42" name="Text 39"/>
          <p:cNvSpPr/>
          <p:nvPr/>
        </p:nvSpPr>
        <p:spPr>
          <a:xfrm>
            <a:off x="8931402" y="511149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dashboard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 VIDYASETU?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solution built to earn its place in the classroom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17392" cy="3977640"/>
          </a:xfrm>
          <a:prstGeom prst="roundRect">
            <a:avLst>
              <a:gd name="adj" fmla="val 23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645920"/>
            <a:ext cx="3334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5B3E96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841248" y="2468880"/>
            <a:ext cx="293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Need, Real Fit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41248" y="2990088"/>
            <a:ext cx="457200" cy="0"/>
          </a:xfrm>
          <a:prstGeom prst="line">
            <a:avLst/>
          </a:prstGeom>
          <a:noFill/>
          <a:ln w="25400">
            <a:solidFill>
              <a:srgbClr val="5B3E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439668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4396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70432" y="320040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 genuine rural higher-education challenge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" y="4155948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559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70432" y="391668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and uses minimal data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1248" y="4872228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4872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70432" y="463296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local languages and accessibility needs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22064" y="1600200"/>
            <a:ext cx="3517392" cy="3977640"/>
          </a:xfrm>
          <a:prstGeom prst="roundRect">
            <a:avLst>
              <a:gd name="adj" fmla="val 23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13504" y="1645920"/>
            <a:ext cx="3334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C9A227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/>
          </a:p>
        </p:txBody>
      </p:sp>
      <p:sp>
        <p:nvSpPr>
          <p:cNvPr id="20" name="Text 17"/>
          <p:cNvSpPr/>
          <p:nvPr/>
        </p:nvSpPr>
        <p:spPr>
          <a:xfrm>
            <a:off x="4614672" y="2468880"/>
            <a:ext cx="293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&amp; Human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4614672" y="2990088"/>
            <a:ext cx="457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4672" y="3439668"/>
            <a:ext cx="237744" cy="23774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4614672" y="34396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43856" y="320040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technology with human mentorship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14672" y="4155948"/>
            <a:ext cx="237744" cy="23774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3"/>
          <p:cNvSpPr/>
          <p:nvPr/>
        </p:nvSpPr>
        <p:spPr>
          <a:xfrm>
            <a:off x="4614672" y="41559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43856" y="391668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affordable and practical technology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14672" y="4872228"/>
            <a:ext cx="237744" cy="23774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6"/>
          <p:cNvSpPr/>
          <p:nvPr/>
        </p:nvSpPr>
        <p:spPr>
          <a:xfrm>
            <a:off x="4614672" y="4872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943856" y="463296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working, demonstrable prototype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1600200"/>
            <a:ext cx="3517392" cy="3977640"/>
          </a:xfrm>
          <a:prstGeom prst="roundRect">
            <a:avLst>
              <a:gd name="adj" fmla="val 23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186928" y="1645920"/>
            <a:ext cx="3334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2C7A5B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/>
          </a:p>
        </p:txBody>
      </p:sp>
      <p:sp>
        <p:nvSpPr>
          <p:cNvPr id="33" name="Text 30"/>
          <p:cNvSpPr/>
          <p:nvPr/>
        </p:nvSpPr>
        <p:spPr>
          <a:xfrm>
            <a:off x="8388096" y="2468880"/>
            <a:ext cx="293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8388096" y="2990088"/>
            <a:ext cx="457200" cy="0"/>
          </a:xfrm>
          <a:prstGeom prst="line">
            <a:avLst/>
          </a:prstGeom>
          <a:noFill/>
          <a:ln w="25400">
            <a:solidFill>
              <a:srgbClr val="2C7A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88096" y="3439668"/>
            <a:ext cx="237744" cy="237744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36" name="Text 33"/>
          <p:cNvSpPr/>
          <p:nvPr/>
        </p:nvSpPr>
        <p:spPr>
          <a:xfrm>
            <a:off x="8388096" y="34396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717280" y="320040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scale through colleges and community hubs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388096" y="4155948"/>
            <a:ext cx="237744" cy="237744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39" name="Text 36"/>
          <p:cNvSpPr/>
          <p:nvPr/>
        </p:nvSpPr>
        <p:spPr>
          <a:xfrm>
            <a:off x="8388096" y="41559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717280" y="391668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measurable educational and social impact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388096" y="4872228"/>
            <a:ext cx="237744" cy="237744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42" name="Text 39"/>
          <p:cNvSpPr/>
          <p:nvPr/>
        </p:nvSpPr>
        <p:spPr>
          <a:xfrm>
            <a:off x="8388096" y="4872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717280" y="4632960"/>
            <a:ext cx="2621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students to skills and opportunities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should be selected because it does not simply put education online — it makes education usable for students who are often excluded from online learning.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download to synced progress — six simple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143000" y="3246120"/>
            <a:ext cx="9875520" cy="0"/>
          </a:xfrm>
          <a:prstGeom prst="line">
            <a:avLst/>
          </a:prstGeom>
          <a:noFill/>
          <a:ln w="38100">
            <a:solidFill>
              <a:srgbClr val="D6CF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9220" y="2926080"/>
            <a:ext cx="640080" cy="64008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7" name="Text 4"/>
          <p:cNvSpPr/>
          <p:nvPr/>
        </p:nvSpPr>
        <p:spPr>
          <a:xfrm>
            <a:off x="13792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1661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language &amp; accessibility options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31820" y="2926080"/>
            <a:ext cx="640080" cy="64008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0" name="Text 7"/>
          <p:cNvSpPr/>
          <p:nvPr/>
        </p:nvSpPr>
        <p:spPr>
          <a:xfrm>
            <a:off x="31318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621280" y="3794760"/>
            <a:ext cx="1661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course pack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84420" y="2926080"/>
            <a:ext cx="640080" cy="640080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13" name="Text 10"/>
          <p:cNvSpPr/>
          <p:nvPr/>
        </p:nvSpPr>
        <p:spPr>
          <a:xfrm>
            <a:off x="48844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373880" y="3794760"/>
            <a:ext cx="1661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offline: text, audio, video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37020" y="2926080"/>
            <a:ext cx="640080" cy="64008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6" name="Text 13"/>
          <p:cNvSpPr/>
          <p:nvPr/>
        </p:nvSpPr>
        <p:spPr>
          <a:xfrm>
            <a:off x="66370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3794760"/>
            <a:ext cx="1661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quizzes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89620" y="2926080"/>
            <a:ext cx="640080" cy="64008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9" name="Text 16"/>
          <p:cNvSpPr/>
          <p:nvPr/>
        </p:nvSpPr>
        <p:spPr>
          <a:xfrm>
            <a:off x="83896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879080" y="3794760"/>
            <a:ext cx="1661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voice or text doubts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142220" y="2926080"/>
            <a:ext cx="640080" cy="64008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2" name="Text 19"/>
          <p:cNvSpPr/>
          <p:nvPr/>
        </p:nvSpPr>
        <p:spPr>
          <a:xfrm>
            <a:off x="101422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631680" y="3794760"/>
            <a:ext cx="1661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when connected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DIFFERENTIATION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LMS — a complete offline ecosystem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D6CFE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6002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5B3E96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6712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1671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Needs regular internet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216712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8E4F5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21671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27889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High data consumption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278892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8E4F5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27889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Low-data course packs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410712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34107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English-dominant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410712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8E4F5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46520" y="34107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local-language support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32504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40325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Limited accessibility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17920" y="4032504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8E4F5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46520" y="40325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captions, text-to-speech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654296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7240" y="465429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Online-only support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17920" y="4654296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8E4F5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46520" y="465429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mentor support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27608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77240" y="52760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Individual internet access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17920" y="527608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8E4F5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46520" y="52760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learning hubs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8640" y="5971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and PM e-Vidya highlight the national push for free, multi-channel education — VidyaSetu extends this vision to rural, low-connectivity classrooms.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ACCESSIBILITY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rural learners actually study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05200" cy="4297680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90344" y="2011680"/>
            <a:ext cx="621792" cy="621792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7" name="Text 4"/>
          <p:cNvSpPr/>
          <p:nvPr/>
        </p:nvSpPr>
        <p:spPr>
          <a:xfrm>
            <a:off x="1990344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lessons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92049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text modes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54914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progress tracking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517779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 doubts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8160" y="1691640"/>
            <a:ext cx="3505200" cy="4297680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9864" y="2011680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5769864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328160" y="274320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48200" y="329184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and transcripts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648200" y="392049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48200" y="454914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48200" y="517779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&amp; contrast controls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07680" y="1691640"/>
            <a:ext cx="3505200" cy="4297680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549384" y="2011680"/>
            <a:ext cx="621792" cy="621792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23" name="Text 20"/>
          <p:cNvSpPr/>
          <p:nvPr/>
        </p:nvSpPr>
        <p:spPr>
          <a:xfrm>
            <a:off x="9549384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107680" y="274320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27720" y="329184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Wi-Fi hub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427720" y="392049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learning groups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27720" y="454914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dashboard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427720" y="5177790"/>
            <a:ext cx="28651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&amp; internship info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9016898" y="3707708"/>
            <a:ext cx="5120640" cy="5081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PROTOTYPE &amp; FEASIBILITY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stack, a working prototype, a realistic path to scale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04104" cy="2135124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956816"/>
            <a:ext cx="73152" cy="274320"/>
          </a:xfrm>
          <a:prstGeom prst="roundRect">
            <a:avLst>
              <a:gd name="adj" fmla="val 50000"/>
            </a:avLst>
          </a:prstGeom>
          <a:solidFill>
            <a:srgbClr val="5B3E96"/>
          </a:solidFill>
          <a:ln/>
        </p:spPr>
      </p:sp>
      <p:sp>
        <p:nvSpPr>
          <p:cNvPr id="7" name="Text 4"/>
          <p:cNvSpPr/>
          <p:nvPr/>
        </p:nvSpPr>
        <p:spPr>
          <a:xfrm>
            <a:off x="969264" y="1920240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360524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360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" y="2340864"/>
            <a:ext cx="453542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2637587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63758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" y="2617927"/>
            <a:ext cx="453542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Database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2914650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9146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" y="2894990"/>
            <a:ext cx="453542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Engine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3191713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1917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2144" y="3172054"/>
            <a:ext cx="453542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2960" y="3468776"/>
            <a:ext cx="237744" cy="237744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468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52144" y="3449117"/>
            <a:ext cx="453542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Dashboard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08776" y="1737360"/>
            <a:ext cx="5404104" cy="2135124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64808" y="1956816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5" name="Text 22"/>
          <p:cNvSpPr/>
          <p:nvPr/>
        </p:nvSpPr>
        <p:spPr>
          <a:xfrm>
            <a:off x="6629400" y="1920240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Demonstration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7056425" y="2615184"/>
            <a:ext cx="3708806" cy="0"/>
          </a:xfrm>
          <a:prstGeom prst="line">
            <a:avLst/>
          </a:prstGeom>
          <a:noFill/>
          <a:ln w="31750">
            <a:solidFill>
              <a:srgbClr val="D6CF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73545" y="243230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5"/>
          <p:cNvSpPr/>
          <p:nvPr/>
        </p:nvSpPr>
        <p:spPr>
          <a:xfrm>
            <a:off x="6873545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29400" y="2889504"/>
            <a:ext cx="85405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800746" y="243230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8"/>
          <p:cNvSpPr/>
          <p:nvPr/>
        </p:nvSpPr>
        <p:spPr>
          <a:xfrm>
            <a:off x="7800746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556602" y="2889504"/>
            <a:ext cx="85405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727948" y="243230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1"/>
          <p:cNvSpPr/>
          <p:nvPr/>
        </p:nvSpPr>
        <p:spPr>
          <a:xfrm>
            <a:off x="8727948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483803" y="2889504"/>
            <a:ext cx="85405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lesson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quiz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655150" y="243230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4"/>
          <p:cNvSpPr/>
          <p:nvPr/>
        </p:nvSpPr>
        <p:spPr>
          <a:xfrm>
            <a:off x="965515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411005" y="2889504"/>
            <a:ext cx="85405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10582351" y="243230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0" name="Text 37"/>
          <p:cNvSpPr/>
          <p:nvPr/>
        </p:nvSpPr>
        <p:spPr>
          <a:xfrm>
            <a:off x="10582351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338206" y="2889504"/>
            <a:ext cx="85405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sync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483096" y="3561588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continuous internet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48640" y="4128516"/>
            <a:ext cx="5404104" cy="2135124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04672" y="4347972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C7A5B"/>
          </a:solidFill>
          <a:ln/>
        </p:spPr>
      </p:sp>
      <p:sp>
        <p:nvSpPr>
          <p:cNvPr id="45" name="Text 42"/>
          <p:cNvSpPr/>
          <p:nvPr/>
        </p:nvSpPr>
        <p:spPr>
          <a:xfrm>
            <a:off x="969264" y="4311396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450" dirty="0"/>
          </a:p>
        </p:txBody>
      </p:sp>
      <p:sp>
        <p:nvSpPr>
          <p:cNvPr id="46" name="Shape 43"/>
          <p:cNvSpPr/>
          <p:nvPr/>
        </p:nvSpPr>
        <p:spPr>
          <a:xfrm>
            <a:off x="822960" y="4822889"/>
            <a:ext cx="164592" cy="164592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47" name="Text 44"/>
          <p:cNvSpPr/>
          <p:nvPr/>
        </p:nvSpPr>
        <p:spPr>
          <a:xfrm>
            <a:off x="822960" y="4822889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97280" y="4732020"/>
            <a:ext cx="45811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Android-first, low-storage app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822960" y="5169218"/>
            <a:ext cx="164592" cy="164592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50" name="Text 47"/>
          <p:cNvSpPr/>
          <p:nvPr/>
        </p:nvSpPr>
        <p:spPr>
          <a:xfrm>
            <a:off x="822960" y="516921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97280" y="5078349"/>
            <a:ext cx="45811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technologies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822960" y="5515547"/>
            <a:ext cx="164592" cy="164592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53" name="Text 50"/>
          <p:cNvSpPr/>
          <p:nvPr/>
        </p:nvSpPr>
        <p:spPr>
          <a:xfrm>
            <a:off x="822960" y="5515547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1097280" y="5424678"/>
            <a:ext cx="45811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laptops / Raspberry Pi hubs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22960" y="5861876"/>
            <a:ext cx="164592" cy="164592"/>
          </a:xfrm>
          <a:prstGeom prst="ellipse">
            <a:avLst/>
          </a:prstGeom>
          <a:solidFill>
            <a:srgbClr val="2C7A5B"/>
          </a:solidFill>
          <a:ln/>
        </p:spPr>
      </p:sp>
      <p:sp>
        <p:nvSpPr>
          <p:cNvPr id="56" name="Text 53"/>
          <p:cNvSpPr/>
          <p:nvPr/>
        </p:nvSpPr>
        <p:spPr>
          <a:xfrm>
            <a:off x="822960" y="58618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1097280" y="5771007"/>
            <a:ext cx="45811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audio for low data usage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208776" y="4128516"/>
            <a:ext cx="5404104" cy="2135124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B85A0">
                <a:alpha val="2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464808" y="4347972"/>
            <a:ext cx="73152" cy="274320"/>
          </a:xfrm>
          <a:prstGeom prst="roundRect">
            <a:avLst>
              <a:gd name="adj" fmla="val 50000"/>
            </a:avLst>
          </a:prstGeom>
          <a:solidFill>
            <a:srgbClr val="3D2A70"/>
          </a:solidFill>
          <a:ln/>
        </p:spPr>
      </p:sp>
      <p:sp>
        <p:nvSpPr>
          <p:cNvPr id="60" name="Text 57"/>
          <p:cNvSpPr/>
          <p:nvPr/>
        </p:nvSpPr>
        <p:spPr>
          <a:xfrm>
            <a:off x="6629400" y="4311396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61" name="Shape 58"/>
          <p:cNvSpPr/>
          <p:nvPr/>
        </p:nvSpPr>
        <p:spPr>
          <a:xfrm>
            <a:off x="6483096" y="4880610"/>
            <a:ext cx="164592" cy="164592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62" name="Text 59"/>
          <p:cNvSpPr/>
          <p:nvPr/>
        </p:nvSpPr>
        <p:spPr>
          <a:xfrm>
            <a:off x="6483096" y="488061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6757416" y="4732020"/>
            <a:ext cx="4581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for students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83096" y="5342382"/>
            <a:ext cx="164592" cy="164592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65" name="Text 62"/>
          <p:cNvSpPr/>
          <p:nvPr/>
        </p:nvSpPr>
        <p:spPr>
          <a:xfrm>
            <a:off x="6483096" y="534238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757416" y="5193792"/>
            <a:ext cx="4581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partnerships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6483096" y="5804154"/>
            <a:ext cx="164592" cy="164592"/>
          </a:xfrm>
          <a:prstGeom prst="ellipse">
            <a:avLst/>
          </a:prstGeom>
          <a:solidFill>
            <a:srgbClr val="3D2A70"/>
          </a:solidFill>
          <a:ln/>
        </p:spPr>
      </p:sp>
      <p:sp>
        <p:nvSpPr>
          <p:cNvPr id="68" name="Text 65"/>
          <p:cNvSpPr/>
          <p:nvPr/>
        </p:nvSpPr>
        <p:spPr>
          <a:xfrm>
            <a:off x="6483096" y="580415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757416" y="5655564"/>
            <a:ext cx="4581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CSR, NGO &amp; government support</a:t>
            </a:r>
            <a:endParaRPr lang="en-US" sz="1150" dirty="0"/>
          </a:p>
        </p:txBody>
      </p:sp>
      <p:sp>
        <p:nvSpPr>
          <p:cNvPr id="70" name="Text 67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27168" y="502920"/>
            <a:ext cx="1737360" cy="1737360"/>
          </a:xfrm>
          <a:prstGeom prst="ellipse">
            <a:avLst/>
          </a:prstGeom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4" name="Image 0" descr="/home/claude/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8" y="849878"/>
            <a:ext cx="1051560" cy="1043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42316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1D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“VidyaSetu ensures that every rural learner can access, continue, and complete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1D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— even without continuous internet.”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kern="0" spc="1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anywhere.     Learn offline.     Learn without barriers.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97280" y="5989320"/>
            <a:ext cx="9997135" cy="0"/>
          </a:xfrm>
          <a:prstGeom prst="line">
            <a:avLst/>
          </a:prstGeom>
          <a:noFill/>
          <a:ln w="9525">
            <a:solidFill>
              <a:srgbClr val="5B3E96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099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Zenith</a:t>
            </a:r>
            <a:r>
              <a:rPr lang="en-US" sz="1050" dirty="0">
                <a:solidFill>
                  <a:srgbClr val="E1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Nishtha Tiwari, Namami Trivedi, Shrashti Kashyap, Abhiraj Pratap Singh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64282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prototype demo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Nishtha Tiwari</cp:lastModifiedBy>
  <cp:revision>2</cp:revision>
  <dcterms:created xsi:type="dcterms:W3CDTF">2026-09-27T10:51:13Z</dcterms:created>
  <dcterms:modified xsi:type="dcterms:W3CDTF">2026-09-27T10:52:27Z</dcterms:modified>
</cp:coreProperties>
</file>